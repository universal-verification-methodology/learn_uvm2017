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agent is the reusable protocol unit in UVM—it groups the pieces that talk to one interface. Sequencer, driver, and monitor live inside the agent boundary, and active versus passive mode decides whether you drive or only observe. This module names those parts and the data paths between them. We will use the browser lab for the diagram, then anchor the same picture in notes you can read offline.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sequencer is where sequences meet hardware—it hands sequence items to the driver. The driver is the active path: it pulls items and wiggles pins through the virtual interface. The monitor is the observe path: it samples the same interface and publishes transactions on an analysis port. An active agent builds sequencer plus driver plus monitor—you can stimulate and watch. A passive agent keeps the monitor only—useful on a bus you do not own but still need to see. ConfigDB often sets is_active and the virtual interface on the agent path. One agent usually means one protocol interface—UART agent, SPI agent, and so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agent anatomy lab. You will see the agent box, three inner blocks, and an active versus passive toggle. Load the starter preset—active agent with the driver highlighted on the drive path. Click sequencer and monitor to read what each does. Switch to passive and notice the drive path disappears while monitor remains. Work a few challenges, then Check. The lab teaches the bundle—not a full UVM compile.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UVM track, open this module’s examples folder and read the anatomy sketch—it lists active versus passive build rules in plain language. Trace how a sequence item would flow from sequencer to driver to interface in an active agent, and how the monitor still publishes in parallel. If the legacy offline course is checked out, grep for uvm agent in any example—you will see the same trio in SystemVerilog class declarations. You are connecting the layer map from earlier modules to concrete agent innards.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put two unrelated protocols in one agent—split agents instead. Do not assume passive means no monitor—it means no driver path. Do not forget the virtual interface on the agent path before build ends—driver and monitor both need it. And remember: the browser sketch is literacy; offline connect phase still wires TLM ports between sequencer and driver.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toggle active versus passive and explain what disappears. On real UVM, sketch one active agent with labeled sequencer, driver, and monitor. When you are ready, take the short quiz, then continue to TLM ports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Agent anatomy</a:t>
            </a:r>
          </a:p>
          <a:p>
            <a:pPr algn="ctr">
              <a:lnSpc>
                <a:spcPts val="2200"/>
              </a:lnSpc>
              <a:spcBef>
                <a:spcPts val="1400"/>
              </a:spcBef>
            </a:pPr>
            <a:r>
              <a:rPr sz="2600" b="0">
                <a:solidFill>
                  <a:srgbClr val="333333"/>
                </a:solidFill>
                <a:latin typeface="Calibri"/>
              </a:rPr>
              <a:t>An agent is the reusable protocol unit in UVM, it groups the pieces that talk to one interface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agent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Sequencer, driver, monitor, active vs passive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sequencer is where sequences meet hardware, it hands sequence items to the driver</a:t>
            </a:r>
          </a:p>
          <a:p>
            <a:pPr lvl="0" marL="457200" indent="-228600">
              <a:buFont typeface="Calibri"/>
              <a:spcAft>
                <a:spcPts val="1000"/>
              </a:spcAft>
              <a:buSzPct val="100000"/>
              <a:buChar char="•"/>
              <a:lnSpc>
                <a:spcPts val="2200"/>
              </a:lnSpc>
            </a:pPr>
            <a:r>
              <a:rPr sz="2000" b="0">
                <a:solidFill>
                  <a:srgbClr val="333333"/>
                </a:solidFill>
                <a:latin typeface="Calibri"/>
              </a:rPr>
              <a:t>The driver is the active path</a:t>
            </a:r>
          </a:p>
          <a:p>
            <a:pPr lvl="0" marL="457200" indent="-228600">
              <a:buFont typeface="Calibri"/>
              <a:spcAft>
                <a:spcPts val="1000"/>
              </a:spcAft>
              <a:buSzPct val="100000"/>
              <a:buChar char="•"/>
              <a:lnSpc>
                <a:spcPts val="2200"/>
              </a:lnSpc>
            </a:pPr>
            <a:r>
              <a:rPr sz="2000" b="0">
                <a:solidFill>
                  <a:srgbClr val="333333"/>
                </a:solidFill>
                <a:latin typeface="Calibri"/>
              </a:rPr>
              <a:t>The monitor is the observe path</a:t>
            </a:r>
          </a:p>
          <a:p>
            <a:pPr lvl="0" marL="457200" indent="-228600">
              <a:buFont typeface="Calibri"/>
              <a:spcAft>
                <a:spcPts val="1000"/>
              </a:spcAft>
              <a:buSzPct val="100000"/>
              <a:buChar char="•"/>
              <a:lnSpc>
                <a:spcPts val="2200"/>
              </a:lnSpc>
            </a:pPr>
            <a:r>
              <a:rPr sz="2000" b="0">
                <a:solidFill>
                  <a:srgbClr val="333333"/>
                </a:solidFill>
                <a:latin typeface="Calibri"/>
              </a:rPr>
              <a:t>An active agent builds sequencer plus driver plus monitor, you can stimulate and watch</a:t>
            </a:r>
          </a:p>
          <a:p>
            <a:pPr lvl="0" marL="457200" indent="-228600">
              <a:buFont typeface="Calibri"/>
              <a:spcAft>
                <a:spcPts val="1000"/>
              </a:spcAft>
              <a:buSzPct val="100000"/>
              <a:buChar char="•"/>
              <a:lnSpc>
                <a:spcPts val="2200"/>
              </a:lnSpc>
            </a:pPr>
            <a:r>
              <a:rPr sz="2000" b="0">
                <a:solidFill>
                  <a:srgbClr val="333333"/>
                </a:solidFill>
                <a:latin typeface="Calibri"/>
              </a:rPr>
              <a:t>A passive agent keeps the monitor only</a:t>
            </a:r>
          </a:p>
          <a:p>
            <a:pPr lvl="0" marL="457200" indent="-228600">
              <a:buFont typeface="Calibri"/>
              <a:spcAft>
                <a:spcPts val="1000"/>
              </a:spcAft>
              <a:buSzPct val="100000"/>
              <a:buChar char="•"/>
              <a:lnSpc>
                <a:spcPts val="2200"/>
              </a:lnSpc>
            </a:pPr>
            <a:r>
              <a:rPr sz="2000" b="0">
                <a:solidFill>
                  <a:srgbClr val="333333"/>
                </a:solidFill>
                <a:latin typeface="Calibri"/>
              </a:rPr>
              <a:t>ConfigDB often sets is_active and the virtual interface on the agent path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agent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UVM agent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agent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UVM literacy</a:t>
            </a:r>
          </a:p>
        </p:txBody>
      </p:sp>
      <p:pic>
        <p:nvPicPr>
          <p:cNvPr id="3" name="Picture 2" descr="real-shell.png"/>
          <p:cNvPicPr>
            <a:picLocks noChangeAspect="1"/>
          </p:cNvPicPr>
          <p:nvPr/>
        </p:nvPicPr>
        <p:blipFill>
          <a:blip r:embed="rId2"/>
          <a:stretch>
            <a:fillRect/>
          </a:stretch>
        </p:blipFill>
        <p:spPr>
          <a:xfrm>
            <a:off x="548640" y="1143000"/>
            <a:ext cx="4188149"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agent anatomy sketch</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agent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put two unrelated protocols in one agent, split agents instead</a:t>
            </a:r>
          </a:p>
          <a:p>
            <a:pPr lvl="0" marL="457200" indent="-228600">
              <a:buFont typeface="Calibri"/>
              <a:spcAft>
                <a:spcPts val="1000"/>
              </a:spcAft>
              <a:buSzPct val="100000"/>
              <a:buChar char="•"/>
              <a:lnSpc>
                <a:spcPts val="2200"/>
              </a:lnSpc>
            </a:pPr>
            <a:r>
              <a:rPr sz="2000" b="0">
                <a:solidFill>
                  <a:srgbClr val="333333"/>
                </a:solidFill>
                <a:latin typeface="Calibri"/>
              </a:rPr>
              <a:t>Do not assume passive means no monitor, it means no driver path</a:t>
            </a:r>
          </a:p>
          <a:p>
            <a:pPr lvl="0" marL="457200" indent="-228600">
              <a:buFont typeface="Calibri"/>
              <a:spcAft>
                <a:spcPts val="1000"/>
              </a:spcAft>
              <a:buSzPct val="100000"/>
              <a:buChar char="•"/>
              <a:lnSpc>
                <a:spcPts val="2200"/>
              </a:lnSpc>
            </a:pPr>
            <a:r>
              <a:rPr sz="2000" b="0">
                <a:solidFill>
                  <a:srgbClr val="333333"/>
                </a:solidFill>
                <a:latin typeface="Calibri"/>
              </a:rPr>
              <a:t>Do not forget the virtual interface on the agent path before build ends</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agent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toggle active versus passive and explain what disappears</a:t>
            </a:r>
          </a:p>
          <a:p>
            <a:pPr lvl="0" marL="457200" indent="-228600">
              <a:buFont typeface="Calibri"/>
              <a:spcAft>
                <a:spcPts val="1000"/>
              </a:spcAft>
              <a:buSzPct val="100000"/>
              <a:buChar char="•"/>
              <a:lnSpc>
                <a:spcPts val="2200"/>
              </a:lnSpc>
            </a:pPr>
            <a:r>
              <a:rPr sz="2000" b="0">
                <a:solidFill>
                  <a:srgbClr val="333333"/>
                </a:solidFill>
                <a:latin typeface="Calibri"/>
              </a:rPr>
              <a:t>On real UVM, sketch one active agent with labeled sequencer, driver, and monitor</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TLM ports in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agent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