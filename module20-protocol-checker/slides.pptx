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scoreboard asks whether the data was correct—expect versus actual. A protocol checker asks whether the bus was legal while that data moved. Handshake drops, unstable data while stalled, unknown values when valid—these are rule violations even if the payload happens to match. The checker is passive: it watches pins or monitor samples each cycle and flags broken rules. It does not drive the DUT and it does not replace functional checking. This module sketches valid-ready rules in the browser lab, then reads the same split in offline notes.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scoreboard compares transactions—did we get the byte we expected, in the right order? The protocol checker enforces bus rules—was valid held until ready, was data stable while valid and not ready, was data known when valid was high? A legal beat can still carry wrong data; correct data on an illegal beat is still a bug. In UVM you often bind SVA or a passive checker component alongside the monitor. Monitor feeds the scoreboard; checker or assertions guard the wire protocol. Keep the two roles separate in your head and in your testbench hierarchy.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protocol checker sketch lab. The starter shows valid and ready both high with stable data A5—all three rules pass. Click Check rules and read HS handshake, HOLD data hold, and X no unknown when valid. Try drop valid before ready and watch the handshake rule fail. Load data changes while stalled and see HOLD fail. Try X while valid for the unknown-data rule. The scoreboard panel compares expect versus actual separately—legal bus and correct payload are different jobs. Work a few challenges, then Check.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UVM track, open this module’s protocol checker sketch—it lists handshake, data hold, and no-X rules plus checker versus scoreboard roles in plain language. Trace a passive checker sampling valid and ready each cycle without driving. If the legacy offline course is checked out, grep for CheckerComp or valid held in module six protocol checkers—you will see handshake monitoring with uvm error on violation. SVA on the interface is the same idea in declarative form; the monitor still feeds the scoreboard for payload checks.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expect the scoreboard to catch dropped valid—that is a protocol checker or assertion job. Do not drive pins from the checker—it should be passive. Do not disable checking during reset without meaning to—rules apply once reset releases. Do not conflate one passing rule with all rules passing—check each handshake, hold, and X rule. And remember: a clean protocol beat does not prove functional correctness; you still need expect versus actual somewhere.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pass the starter beat, then break one rule and name which checker fired. On real UVM, sketch three valid-ready rules and one scoreboard comparison. When you are ready, take the short quiz, then continue to VIP anatomy in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Protocol checker</a:t>
            </a:r>
          </a:p>
          <a:p>
            <a:pPr algn="ctr">
              <a:lnSpc>
                <a:spcPts val="2200"/>
              </a:lnSpc>
              <a:spcBef>
                <a:spcPts val="1400"/>
              </a:spcBef>
            </a:pPr>
            <a:r>
              <a:rPr sz="2600" b="0">
                <a:solidFill>
                  <a:srgbClr val="333333"/>
                </a:solidFill>
                <a:latin typeface="Calibri"/>
              </a:rPr>
              <a:t>A scoreboard asks whether the data was correct, expect versus actual</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protocol checker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Checker vs scoreboard</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The scoreboard compares transactions, did we get the byte we expected, in the right order?</a:t>
            </a:r>
          </a:p>
          <a:p>
            <a:pPr lvl="0" marL="457200" indent="-228600">
              <a:buFont typeface="Calibri"/>
              <a:spcAft>
                <a:spcPts val="1000"/>
              </a:spcAft>
              <a:buSzPct val="100000"/>
              <a:buChar char="•"/>
              <a:lnSpc>
                <a:spcPts val="2200"/>
              </a:lnSpc>
            </a:pPr>
            <a:r>
              <a:rPr sz="2000" b="0">
                <a:solidFill>
                  <a:srgbClr val="333333"/>
                </a:solidFill>
                <a:latin typeface="Calibri"/>
              </a:rPr>
              <a:t>The protocol checker enforces bus rules</a:t>
            </a:r>
          </a:p>
          <a:p>
            <a:pPr lvl="0" marL="457200" indent="-228600">
              <a:buFont typeface="Calibri"/>
              <a:spcAft>
                <a:spcPts val="1000"/>
              </a:spcAft>
              <a:buSzPct val="100000"/>
              <a:buChar char="•"/>
              <a:lnSpc>
                <a:spcPts val="2200"/>
              </a:lnSpc>
            </a:pPr>
            <a:r>
              <a:rPr sz="2000" b="0">
                <a:solidFill>
                  <a:srgbClr val="333333"/>
                </a:solidFill>
                <a:latin typeface="Calibri"/>
              </a:rPr>
              <a:t>A legal beat can still carry wrong data; correct data on an illegal beat is still a bug</a:t>
            </a:r>
          </a:p>
          <a:p>
            <a:pPr lvl="0" marL="457200" indent="-228600">
              <a:buFont typeface="Calibri"/>
              <a:spcAft>
                <a:spcPts val="1000"/>
              </a:spcAft>
              <a:buSzPct val="100000"/>
              <a:buChar char="•"/>
              <a:lnSpc>
                <a:spcPts val="2200"/>
              </a:lnSpc>
            </a:pPr>
            <a:r>
              <a:rPr sz="2000" b="0">
                <a:solidFill>
                  <a:srgbClr val="333333"/>
                </a:solidFill>
                <a:latin typeface="Calibri"/>
              </a:rPr>
              <a:t>In UVM you often bind SVA or a passive checker component alongside the monitor</a:t>
            </a:r>
          </a:p>
          <a:p>
            <a:pPr lvl="0" marL="457200" indent="-228600">
              <a:buFont typeface="Calibri"/>
              <a:spcAft>
                <a:spcPts val="1000"/>
              </a:spcAft>
              <a:buSzPct val="100000"/>
              <a:buChar char="•"/>
              <a:lnSpc>
                <a:spcPts val="2200"/>
              </a:lnSpc>
            </a:pPr>
            <a:r>
              <a:rPr sz="2000" b="0">
                <a:solidFill>
                  <a:srgbClr val="333333"/>
                </a:solidFill>
                <a:latin typeface="Calibri"/>
              </a:rPr>
              <a:t>Monitor feeds the scoreboard; checker or assertions guard the wire protocol</a:t>
            </a:r>
          </a:p>
          <a:p>
            <a:pPr lvl="0" marL="457200" indent="-228600">
              <a:buFont typeface="Calibri"/>
              <a:spcAft>
                <a:spcPts val="1000"/>
              </a:spcAft>
              <a:buSzPct val="100000"/>
              <a:buChar char="•"/>
              <a:lnSpc>
                <a:spcPts val="2200"/>
              </a:lnSpc>
            </a:pPr>
            <a:r>
              <a:rPr sz="2000" b="0">
                <a:solidFill>
                  <a:srgbClr val="333333"/>
                </a:solidFill>
                <a:latin typeface="Calibri"/>
              </a:rPr>
              <a:t>Keep the two roles separate in your head and in your testbench hierarchy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protocol checker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Protocol checker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protocol checker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UVM literacy</a:t>
            </a:r>
          </a:p>
        </p:txBody>
      </p:sp>
      <p:pic>
        <p:nvPicPr>
          <p:cNvPr id="3" name="Picture 2" descr="real-shell.png"/>
          <p:cNvPicPr>
            <a:picLocks noChangeAspect="1"/>
          </p:cNvPicPr>
          <p:nvPr/>
        </p:nvPicPr>
        <p:blipFill>
          <a:blip r:embed="rId2"/>
          <a:stretch>
            <a:fillRect/>
          </a:stretch>
        </p:blipFill>
        <p:spPr>
          <a:xfrm>
            <a:off x="548640" y="1143000"/>
            <a:ext cx="3160818"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protocol checker sketch</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protocol checker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expect the scoreboard to catch dropped valid</a:t>
            </a:r>
          </a:p>
          <a:p>
            <a:pPr lvl="0" marL="457200" indent="-228600">
              <a:buFont typeface="Calibri"/>
              <a:spcAft>
                <a:spcPts val="1000"/>
              </a:spcAft>
              <a:buSzPct val="100000"/>
              <a:buChar char="•"/>
              <a:lnSpc>
                <a:spcPts val="2200"/>
              </a:lnSpc>
            </a:pPr>
            <a:r>
              <a:rPr sz="2000" b="0">
                <a:solidFill>
                  <a:srgbClr val="333333"/>
                </a:solidFill>
                <a:latin typeface="Calibri"/>
              </a:rPr>
              <a:t>Do not drive pins from the checker, it should be passive</a:t>
            </a:r>
          </a:p>
          <a:p>
            <a:pPr lvl="0" marL="457200" indent="-228600">
              <a:buFont typeface="Calibri"/>
              <a:spcAft>
                <a:spcPts val="1000"/>
              </a:spcAft>
              <a:buSzPct val="100000"/>
              <a:buChar char="•"/>
              <a:lnSpc>
                <a:spcPts val="2200"/>
              </a:lnSpc>
            </a:pPr>
            <a:r>
              <a:rPr sz="2000" b="0">
                <a:solidFill>
                  <a:srgbClr val="333333"/>
                </a:solidFill>
                <a:latin typeface="Calibri"/>
              </a:rPr>
              <a:t>Do not disable checking during reset without meaning to, rules apply once reset releases</a:t>
            </a:r>
          </a:p>
          <a:p>
            <a:pPr lvl="0" marL="457200" indent="-228600">
              <a:buFont typeface="Calibri"/>
              <a:spcAft>
                <a:spcPts val="1000"/>
              </a:spcAft>
              <a:buSzPct val="100000"/>
              <a:buChar char="•"/>
              <a:lnSpc>
                <a:spcPts val="2200"/>
              </a:lnSpc>
            </a:pPr>
            <a:r>
              <a:rPr sz="2000" b="0">
                <a:solidFill>
                  <a:srgbClr val="333333"/>
                </a:solidFill>
                <a:latin typeface="Calibri"/>
              </a:rPr>
              <a:t>Do not conflate one passing rule with all rules passing, check each handshake, hold</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protocol checker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pass the starter beat, then break one rule and name which checker fired</a:t>
            </a:r>
          </a:p>
          <a:p>
            <a:pPr lvl="0" marL="457200" indent="-228600">
              <a:buFont typeface="Calibri"/>
              <a:spcAft>
                <a:spcPts val="1000"/>
              </a:spcAft>
              <a:buSzPct val="100000"/>
              <a:buChar char="•"/>
              <a:lnSpc>
                <a:spcPts val="2200"/>
              </a:lnSpc>
            </a:pPr>
            <a:r>
              <a:rPr sz="2000" b="0">
                <a:solidFill>
                  <a:srgbClr val="333333"/>
                </a:solidFill>
                <a:latin typeface="Calibri"/>
              </a:rPr>
              <a:t>On real UVM, sketch three valid-ready rules and one scoreboard comparison</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VIP anatomy in the next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protocol checker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