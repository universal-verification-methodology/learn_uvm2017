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 sketches taught the ideas—factory, ConfigDB, agents, sequences. This module is Track A only: you open the legacy SystemVerilog UVM course tree and build a real example with Verilator or a commercial simulator. You leave with a command line you can repeat: set UVM home, make, run, and read pass or fail. No browser lab here—just the live toolchain.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Sketches are concept literacy—they do not compile Accellera UVM or exercise Verilator flags. Offline runs force you through UVM home, include paths, plusargs like UVM test name, and the Makefile glue you will keep at work. The monorepo links the legacy SystemVerilog UVM Verilator tree for that practice surface. One clean pass on a small test is enough for this module; you can deepen later modules at your pace.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rhythm. Open the legacy course next to this curriculum. Point UVM home at the Accellera library under tools—or your system install. Change into a small UVM test directory—module one and-gate is a good first target. Run make with Verilator as the simulator and the test name set. Watch compile finish, then the binary start with plus UVM test name. Capture the command and the pass or fail line in your notes. Commercial flows swap the simulator knob—same idea, different Make recipe.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walk the legacy tree, export UVM home, list the module one UVM tests, preview the Makefile, then compile and run the and-gate UVM test. Say the working directory aloud so you know where make runs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forget UVM home—Make will error before Verilator starts. Do not run make from the wrong directory—use the test folder that owns the Makefile. Do not confuse browser sketch pass with simulator pass—offline needs a real binary. Expect the first UVM Verilator compile to take several minutes; later rebuilds are faster when objects exist. And remember: commercial simulators use the same test name idea with a different SIM value—read the Makefile comments.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offline checklist: locate a runnable example, build it, observe pass or fail, and note your simulator and UVM version. Prefer module one and-gate unless your site policy points elsewhere. When you are ready, take the short quiz, then continue to the wrap module that closes this UVM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Run a course UVM example</a:t>
            </a:r>
          </a:p>
          <a:p>
            <a:pPr algn="ctr">
              <a:lnSpc>
                <a:spcPts val="2200"/>
              </a:lnSpc>
              <a:spcBef>
                <a:spcPts val="1400"/>
              </a:spcBef>
            </a:pPr>
            <a:r>
              <a:rPr sz="2600" b="0">
                <a:solidFill>
                  <a:srgbClr val="333333"/>
                </a:solidFill>
                <a:latin typeface="Calibri"/>
              </a:rPr>
              <a:t>Browser sketches taught the ideas, factory, ConfigDB, agents, sequences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example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leave the browser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Sketches are concept literacy</a:t>
            </a:r>
          </a:p>
          <a:p>
            <a:pPr lvl="0" marL="457200" indent="-228600">
              <a:buFont typeface="Calibri"/>
              <a:spcAft>
                <a:spcPts val="1000"/>
              </a:spcAft>
              <a:buSzPct val="100000"/>
              <a:buChar char="•"/>
              <a:lnSpc>
                <a:spcPts val="2200"/>
              </a:lnSpc>
            </a:pPr>
            <a:r>
              <a:rPr sz="2000" b="0">
                <a:solidFill>
                  <a:srgbClr val="333333"/>
                </a:solidFill>
                <a:latin typeface="Calibri"/>
              </a:rPr>
              <a:t>Offline runs force you through UVM home, include paths, plusargs like UVM test name</a:t>
            </a:r>
          </a:p>
          <a:p>
            <a:pPr lvl="0" marL="457200" indent="-228600">
              <a:buFont typeface="Calibri"/>
              <a:spcAft>
                <a:spcPts val="1000"/>
              </a:spcAft>
              <a:buSzPct val="100000"/>
              <a:buChar char="•"/>
              <a:lnSpc>
                <a:spcPts val="2200"/>
              </a:lnSpc>
            </a:pPr>
            <a:r>
              <a:rPr sz="2000" b="0">
                <a:solidFill>
                  <a:srgbClr val="333333"/>
                </a:solidFill>
                <a:latin typeface="Calibri"/>
              </a:rPr>
              <a:t>The monorepo links the legacy SystemVerilog UVM Verilator tree for that practice surface</a:t>
            </a:r>
          </a:p>
          <a:p>
            <a:pPr lvl="0" marL="457200" indent="-228600">
              <a:buFont typeface="Calibri"/>
              <a:spcAft>
                <a:spcPts val="1000"/>
              </a:spcAft>
              <a:buSzPct val="100000"/>
              <a:buChar char="•"/>
              <a:lnSpc>
                <a:spcPts val="2200"/>
              </a:lnSpc>
            </a:pPr>
            <a:r>
              <a:rPr sz="2000" b="0">
                <a:solidFill>
                  <a:srgbClr val="333333"/>
                </a:solidFill>
                <a:latin typeface="Calibri"/>
              </a:rPr>
              <a:t>One clean pass on a small test is enough for this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example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Offline workflow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rhythm</a:t>
            </a:r>
          </a:p>
          <a:p>
            <a:pPr lvl="0" marL="457200" indent="-228600">
              <a:buFont typeface="Calibri"/>
              <a:spcAft>
                <a:spcPts val="1000"/>
              </a:spcAft>
              <a:buSzPct val="100000"/>
              <a:buChar char="•"/>
              <a:lnSpc>
                <a:spcPts val="2200"/>
              </a:lnSpc>
            </a:pPr>
            <a:r>
              <a:rPr sz="2000" b="0">
                <a:solidFill>
                  <a:srgbClr val="333333"/>
                </a:solidFill>
                <a:latin typeface="Calibri"/>
              </a:rPr>
              <a:t>Open the legacy course next to this curriculum</a:t>
            </a:r>
          </a:p>
          <a:p>
            <a:pPr lvl="0" marL="457200" indent="-228600">
              <a:buFont typeface="Calibri"/>
              <a:spcAft>
                <a:spcPts val="1000"/>
              </a:spcAft>
              <a:buSzPct val="100000"/>
              <a:buChar char="•"/>
              <a:lnSpc>
                <a:spcPts val="2200"/>
              </a:lnSpc>
            </a:pPr>
            <a:r>
              <a:rPr sz="2000" b="0">
                <a:solidFill>
                  <a:srgbClr val="333333"/>
                </a:solidFill>
                <a:latin typeface="Calibri"/>
              </a:rPr>
              <a:t>Point UVM home at the Accellera library under tools, or your system install</a:t>
            </a:r>
          </a:p>
          <a:p>
            <a:pPr lvl="0" marL="457200" indent="-228600">
              <a:buFont typeface="Calibri"/>
              <a:spcAft>
                <a:spcPts val="1000"/>
              </a:spcAft>
              <a:buSzPct val="100000"/>
              <a:buChar char="•"/>
              <a:lnSpc>
                <a:spcPts val="2200"/>
              </a:lnSpc>
            </a:pPr>
            <a:r>
              <a:rPr sz="2000" b="0">
                <a:solidFill>
                  <a:srgbClr val="333333"/>
                </a:solidFill>
                <a:latin typeface="Calibri"/>
              </a:rPr>
              <a:t>Change into a small UVM test directory, module one and-gate is a good first target</a:t>
            </a:r>
          </a:p>
          <a:p>
            <a:pPr lvl="0" marL="457200" indent="-228600">
              <a:buFont typeface="Calibri"/>
              <a:spcAft>
                <a:spcPts val="1000"/>
              </a:spcAft>
              <a:buSzPct val="100000"/>
              <a:buChar char="•"/>
              <a:lnSpc>
                <a:spcPts val="2200"/>
              </a:lnSpc>
            </a:pPr>
            <a:r>
              <a:rPr sz="2000" b="0">
                <a:solidFill>
                  <a:srgbClr val="333333"/>
                </a:solidFill>
                <a:latin typeface="Calibri"/>
              </a:rPr>
              <a:t>Run make with Verilator as the simulator and the test name set</a:t>
            </a:r>
          </a:p>
          <a:p>
            <a:pPr lvl="0" marL="457200" indent="-228600">
              <a:buFont typeface="Calibri"/>
              <a:spcAft>
                <a:spcPts val="1000"/>
              </a:spcAft>
              <a:buSzPct val="100000"/>
              <a:buChar char="•"/>
              <a:lnSpc>
                <a:spcPts val="2200"/>
              </a:lnSpc>
            </a:pPr>
            <a:r>
              <a:rPr sz="2000" b="0">
                <a:solidFill>
                  <a:srgbClr val="333333"/>
                </a:solidFill>
                <a:latin typeface="Calibri"/>
              </a:rPr>
              <a:t>Watch compile finish, then the binary start with plus UVM test name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example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toolchain</a:t>
            </a:r>
          </a:p>
        </p:txBody>
      </p:sp>
      <p:pic>
        <p:nvPicPr>
          <p:cNvPr id="3" name="Picture 2" descr="real-shell.png"/>
          <p:cNvPicPr>
            <a:picLocks noChangeAspect="1"/>
          </p:cNvPicPr>
          <p:nvPr/>
        </p:nvPicPr>
        <p:blipFill>
          <a:blip r:embed="rId2"/>
          <a:stretch>
            <a:fillRect/>
          </a:stretch>
        </p:blipFill>
        <p:spPr>
          <a:xfrm>
            <a:off x="548640" y="1143000"/>
            <a:ext cx="2044782"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offline UVM Makefile run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example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toolchain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cd learn_uvm2017_sv_verilator — enter the legacy offline course</a:t>
            </a:r>
          </a:p>
          <a:p>
            <a:pPr>
              <a:lnSpc>
                <a:spcPts val="2200"/>
              </a:lnSpc>
              <a:spcAft>
                <a:spcPts val="600"/>
              </a:spcAft>
            </a:pPr>
            <a:r>
              <a:rPr sz="2000" b="0">
                <a:solidFill>
                  <a:srgbClr val="333333"/>
                </a:solidFill>
                <a:latin typeface="Consolas"/>
              </a:rPr>
              <a:t>cd courses/learn_uvm2017_sv_verilator</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export UVM_HOME — Accellera UVM 2017 src under tools/</a:t>
            </a:r>
          </a:p>
          <a:p>
            <a:pPr>
              <a:lnSpc>
                <a:spcPts val="2200"/>
              </a:lnSpc>
              <a:spcAft>
                <a:spcPts val="600"/>
              </a:spcAft>
            </a:pPr>
            <a:r>
              <a:rPr sz="2000" b="0">
                <a:solidFill>
                  <a:srgbClr val="333333"/>
                </a:solidFill>
                <a:latin typeface="Consolas"/>
              </a:rPr>
              <a:t>export UVM_HOME=$PWD/tools/uvm-2017/1800.2-2017-1.0/src</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module1/tests/uvm_tests — find Makefile and test_and_gate_uvm.sv</a:t>
            </a:r>
          </a:p>
          <a:p>
            <a:pPr>
              <a:lnSpc>
                <a:spcPts val="2200"/>
              </a:lnSpc>
              <a:spcAft>
                <a:spcPts val="600"/>
              </a:spcAft>
            </a:pPr>
            <a:r>
              <a:rPr sz="2000" b="0">
                <a:solidFill>
                  <a:srgbClr val="333333"/>
                </a:solidFill>
                <a:latin typeface="Consolas"/>
              </a:rPr>
              <a:t>ls module1/tests/uvm_tests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run — compile with Verilator and execute the UVM test</a:t>
            </a:r>
          </a:p>
          <a:p>
            <a:pPr>
              <a:lnSpc>
                <a:spcPts val="2200"/>
              </a:lnSpc>
              <a:spcAft>
                <a:spcPts val="600"/>
              </a:spcAft>
            </a:pPr>
            <a:r>
              <a:rPr sz="2000" b="0">
                <a:solidFill>
                  <a:srgbClr val="333333"/>
                </a:solidFill>
                <a:latin typeface="Consolas"/>
              </a:rPr>
              <a:t>cd module1/tests/uvm_tests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make run SIM=verilator TEST=test_and_gate_uvm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example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forget UVM home, Make will error before Verilator starts</a:t>
            </a:r>
          </a:p>
          <a:p>
            <a:pPr lvl="0" marL="457200" indent="-228600">
              <a:buFont typeface="Calibri"/>
              <a:spcAft>
                <a:spcPts val="1000"/>
              </a:spcAft>
              <a:buSzPct val="100000"/>
              <a:buChar char="•"/>
              <a:lnSpc>
                <a:spcPts val="2200"/>
              </a:lnSpc>
            </a:pPr>
            <a:r>
              <a:rPr sz="2000" b="0">
                <a:solidFill>
                  <a:srgbClr val="333333"/>
                </a:solidFill>
                <a:latin typeface="Calibri"/>
              </a:rPr>
              <a:t>Do not run make from the wrong directory, use the test folder that owns the Makefile</a:t>
            </a:r>
          </a:p>
          <a:p>
            <a:pPr lvl="0" marL="457200" indent="-228600">
              <a:buFont typeface="Calibri"/>
              <a:spcAft>
                <a:spcPts val="1000"/>
              </a:spcAft>
              <a:buSzPct val="100000"/>
              <a:buChar char="•"/>
              <a:lnSpc>
                <a:spcPts val="2200"/>
              </a:lnSpc>
            </a:pPr>
            <a:r>
              <a:rPr sz="2000" b="0">
                <a:solidFill>
                  <a:srgbClr val="333333"/>
                </a:solidFill>
                <a:latin typeface="Calibri"/>
              </a:rPr>
              <a:t>Do not confuse browser sketch pass with simulator pass, offline needs a real binary</a:t>
            </a:r>
          </a:p>
          <a:p>
            <a:pPr lvl="0" marL="457200" indent="-228600">
              <a:buFont typeface="Calibri"/>
              <a:spcAft>
                <a:spcPts val="1000"/>
              </a:spcAft>
              <a:buSzPct val="100000"/>
              <a:buChar char="•"/>
              <a:lnSpc>
                <a:spcPts val="2200"/>
              </a:lnSpc>
            </a:pPr>
            <a:r>
              <a:rPr sz="2000" b="0">
                <a:solidFill>
                  <a:srgbClr val="333333"/>
                </a:solidFill>
                <a:latin typeface="Calibri"/>
              </a:rPr>
              <a:t>Expect the first UVM Verilator compile to take several minutes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example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offline checklist</a:t>
            </a:r>
          </a:p>
          <a:p>
            <a:pPr lvl="0" marL="457200" indent="-228600">
              <a:buFont typeface="Calibri"/>
              <a:spcAft>
                <a:spcPts val="1000"/>
              </a:spcAft>
              <a:buSzPct val="100000"/>
              <a:buChar char="•"/>
              <a:lnSpc>
                <a:spcPts val="2200"/>
              </a:lnSpc>
            </a:pPr>
            <a:r>
              <a:rPr sz="2000" b="0">
                <a:solidFill>
                  <a:srgbClr val="333333"/>
                </a:solidFill>
                <a:latin typeface="Calibri"/>
              </a:rPr>
              <a:t>Prefer module one and-gate unless your site policy points elsewhere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example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