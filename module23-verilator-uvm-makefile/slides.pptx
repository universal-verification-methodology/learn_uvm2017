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twenty-two named Verilator as a plausible UVM host. Module twenty-three maps the Makefile knobs on the **in-course** hello example: UVM home, include paths, simulator selection, and test name. You are not required to finish a full compile here—export UVM home, dry-run make, and confirm sources resolve before module twenty-four runs for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Accellera UVM lives outside your DUT tree. Point UVM home at the library **src** directory that contains `uvm_pkg.sv`. This course does not vendor the full Accellera tree—install the 2017-1.0 tarball yourself, or for local monorepo convenience only, point at an existing extract. If UVM home is unset or wrong, make fails early with missing uvm_pkg—not mysterious Verilator messages.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 knob selects the Verilator recipe. TEST names the SystemVerilog top file. At run time the binary needs plus UVM test name matching the registered test class—here AndGateTest. Read the in-course Makefile; the trio—simulator, build top, runtime test name—repeats on every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enter the in-course hello, export UVM home, list dut and tb, preview the Makefile, then dry-run so paths are checked without a long compile.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Wrong or missing UVM home is the fastest failure. Running make from the wrong directory misses the Makefile. Missing Verilator on PATH fails at compile. Mismatch between top module and plus UVM test name yields no tests executed. First cold compiles take minutes—that is normal. Browser sketch success never substitutes for reading these Makefile errors offline.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set UVM home, dry-run the in-course hello, and name one failure mode you now recognize. When you are ready, take the short quiz, then continue to module twenty-four for a full make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Makefile knobs for Verilator UVM</a:t>
            </a:r>
          </a:p>
          <a:p>
            <a:pPr algn="ctr">
              <a:lnSpc>
                <a:spcPts val="2200"/>
              </a:lnSpc>
              <a:spcBef>
                <a:spcPts val="1400"/>
              </a:spcBef>
            </a:pPr>
            <a:r>
              <a:rPr sz="2600" b="0">
                <a:solidFill>
                  <a:srgbClr val="333333"/>
                </a:solidFill>
                <a:latin typeface="Calibri"/>
              </a:rPr>
              <a:t>Module twenty-two named Verilator as a plausible UVM host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UVM_HOME and include paths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Accellera UVM lives outside your DUT tree</a:t>
            </a:r>
          </a:p>
          <a:p>
            <a:pPr lvl="0" marL="457200" indent="-228600">
              <a:buFont typeface="Calibri"/>
              <a:spcAft>
                <a:spcPts val="1000"/>
              </a:spcAft>
              <a:buSzPct val="100000"/>
              <a:buChar char="•"/>
              <a:lnSpc>
                <a:spcPts val="2200"/>
              </a:lnSpc>
            </a:pPr>
            <a:r>
              <a:rPr sz="2000" b="0">
                <a:solidFill>
                  <a:srgbClr val="333333"/>
                </a:solidFill>
                <a:latin typeface="Calibri"/>
              </a:rPr>
              <a:t>Point UVM home at the library </a:t>
            </a:r>
            <a:r>
              <a:rPr sz="2000" b="1">
                <a:solidFill>
                  <a:srgbClr val="333333"/>
                </a:solidFill>
                <a:latin typeface="Calibri"/>
              </a:rPr>
              <a:t>src</a:t>
            </a:r>
            <a:r>
              <a:rPr sz="2000" b="0">
                <a:solidFill>
                  <a:srgbClr val="333333"/>
                </a:solidFill>
                <a:latin typeface="Calibri"/>
              </a:rPr>
              <a:t> directory that contains `uvm_pkg.sv`</a:t>
            </a:r>
          </a:p>
          <a:p>
            <a:pPr lvl="0" marL="457200" indent="-228600">
              <a:buFont typeface="Calibri"/>
              <a:spcAft>
                <a:spcPts val="1000"/>
              </a:spcAft>
              <a:buSzPct val="100000"/>
              <a:buChar char="•"/>
              <a:lnSpc>
                <a:spcPts val="2200"/>
              </a:lnSpc>
            </a:pPr>
            <a:r>
              <a:rPr sz="2000" b="0">
                <a:solidFill>
                  <a:srgbClr val="333333"/>
                </a:solidFill>
                <a:latin typeface="Calibri"/>
              </a:rPr>
              <a:t>This course does not vendor the full Accellera tree</a:t>
            </a:r>
          </a:p>
          <a:p>
            <a:pPr lvl="0" marL="457200" indent="-228600">
              <a:buFont typeface="Calibri"/>
              <a:spcAft>
                <a:spcPts val="1000"/>
              </a:spcAft>
              <a:buSzPct val="100000"/>
              <a:buChar char="•"/>
              <a:lnSpc>
                <a:spcPts val="2200"/>
              </a:lnSpc>
            </a:pPr>
            <a:r>
              <a:rPr sz="2000" b="0">
                <a:solidFill>
                  <a:srgbClr val="333333"/>
                </a:solidFill>
                <a:latin typeface="Calibri"/>
              </a:rPr>
              <a:t>If UVM home is unset or wrong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SIM, TEST, and UVM test name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simulator knob selects the Verilator recipe</a:t>
            </a:r>
          </a:p>
          <a:p>
            <a:pPr lvl="0" marL="457200" indent="-228600">
              <a:buFont typeface="Calibri"/>
              <a:spcAft>
                <a:spcPts val="1000"/>
              </a:spcAft>
              <a:buSzPct val="100000"/>
              <a:buChar char="•"/>
              <a:lnSpc>
                <a:spcPts val="2200"/>
              </a:lnSpc>
            </a:pPr>
            <a:r>
              <a:rPr sz="2000" b="0">
                <a:solidFill>
                  <a:srgbClr val="333333"/>
                </a:solidFill>
                <a:latin typeface="Calibri"/>
              </a:rPr>
              <a:t>TEST names the SystemVerilog top file</a:t>
            </a:r>
          </a:p>
          <a:p>
            <a:pPr lvl="0" marL="457200" indent="-228600">
              <a:buFont typeface="Calibri"/>
              <a:spcAft>
                <a:spcPts val="1000"/>
              </a:spcAft>
              <a:buSzPct val="100000"/>
              <a:buChar char="•"/>
              <a:lnSpc>
                <a:spcPts val="2200"/>
              </a:lnSpc>
            </a:pPr>
            <a:r>
              <a:rPr sz="2000" b="0">
                <a:solidFill>
                  <a:srgbClr val="333333"/>
                </a:solidFill>
                <a:latin typeface="Calibri"/>
              </a:rPr>
              <a:t>At run time the binary needs plus UVM test name matching the registered test class</a:t>
            </a:r>
          </a:p>
          <a:p>
            <a:pPr lvl="0" marL="457200" indent="-228600">
              <a:buFont typeface="Calibri"/>
              <a:spcAft>
                <a:spcPts val="1000"/>
              </a:spcAft>
              <a:buSzPct val="100000"/>
              <a:buChar char="•"/>
              <a:lnSpc>
                <a:spcPts val="2200"/>
              </a:lnSpc>
            </a:pPr>
            <a:r>
              <a:rPr sz="2000" b="0">
                <a:solidFill>
                  <a:srgbClr val="333333"/>
                </a:solidFill>
                <a:latin typeface="Calibri"/>
              </a:rPr>
              <a:t>Read the in-course Makefile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Read the Makefile flow</a:t>
            </a:r>
          </a:p>
        </p:txBody>
      </p:sp>
      <p:pic>
        <p:nvPicPr>
          <p:cNvPr id="3" name="Picture 2" descr="real-shell.png"/>
          <p:cNvPicPr>
            <a:picLocks noChangeAspect="1"/>
          </p:cNvPicPr>
          <p:nvPr/>
        </p:nvPicPr>
        <p:blipFill>
          <a:blip r:embed="rId2"/>
          <a:stretch>
            <a:fillRect/>
          </a:stretch>
        </p:blipFill>
        <p:spPr>
          <a:xfrm>
            <a:off x="548640" y="1143000"/>
            <a:ext cx="1038833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Makefile dry-run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Read the Makefile flow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cd in-course Verilator + UVM hello</a:t>
            </a:r>
          </a:p>
          <a:p>
            <a:pPr>
              <a:lnSpc>
                <a:spcPts val="2200"/>
              </a:lnSpc>
              <a:spcAft>
                <a:spcPts val="600"/>
              </a:spcAft>
            </a:pPr>
            <a:r>
              <a:rPr sz="2000" b="0">
                <a:solidFill>
                  <a:srgbClr val="333333"/>
                </a:solidFill>
                <a:latin typeface="Consolas"/>
              </a:rPr>
              <a:t>cd courses/learn_uvm2017/examples/verilator-uvm-hello</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export UVM_HOME — Accellera UVM 2017 src (uvm_pkg.sv lives here)</a:t>
            </a:r>
          </a:p>
          <a:p>
            <a:pPr>
              <a:lnSpc>
                <a:spcPts val="2200"/>
              </a:lnSpc>
              <a:spcAft>
                <a:spcPts val="600"/>
              </a:spcAft>
            </a:pPr>
            <a:r>
              <a:rPr sz="2000" b="0">
                <a:solidFill>
                  <a:srgbClr val="333333"/>
                </a:solidFill>
                <a:latin typeface="Consolas"/>
              </a:rPr>
              <a:t>export UVM_HOME=/path/to/1800.2-2017-1.0/src</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 confirm Makefile, dut/and_gate.v, tb/test_and_gate_uvm.sv</a:t>
            </a:r>
          </a:p>
          <a:p>
            <a:pPr>
              <a:lnSpc>
                <a:spcPts val="2200"/>
              </a:lnSpc>
              <a:spcAft>
                <a:spcPts val="600"/>
              </a:spcAft>
            </a:pPr>
            <a:r>
              <a:rPr sz="2000" b="0">
                <a:solidFill>
                  <a:srgbClr val="333333"/>
                </a:solidFill>
                <a:latin typeface="Consolas"/>
              </a:rPr>
              <a:t>ls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ls dut tb</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dry-run — verify UVM_HOME and sources without compiling</a:t>
            </a:r>
          </a:p>
          <a:p>
            <a:pPr>
              <a:lnSpc>
                <a:spcPts val="2200"/>
              </a:lnSpc>
              <a:spcAft>
                <a:spcPts val="600"/>
              </a:spcAft>
            </a:pPr>
            <a:r>
              <a:rPr sz="2000" b="0">
                <a:solidFill>
                  <a:srgbClr val="333333"/>
                </a:solidFill>
                <a:latin typeface="Consolas"/>
              </a:rPr>
              <a:t>make dry-run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fail modes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Wrong or missing UVM home is the fastest failure</a:t>
            </a:r>
          </a:p>
          <a:p>
            <a:pPr lvl="0" marL="457200" indent="-228600">
              <a:buFont typeface="Calibri"/>
              <a:spcAft>
                <a:spcPts val="1000"/>
              </a:spcAft>
              <a:buSzPct val="100000"/>
              <a:buChar char="•"/>
              <a:lnSpc>
                <a:spcPts val="2200"/>
              </a:lnSpc>
            </a:pPr>
            <a:r>
              <a:rPr sz="2000" b="0">
                <a:solidFill>
                  <a:srgbClr val="333333"/>
                </a:solidFill>
                <a:latin typeface="Calibri"/>
              </a:rPr>
              <a:t>Running make from the wrong directory misses the Makefile</a:t>
            </a:r>
          </a:p>
          <a:p>
            <a:pPr lvl="0" marL="457200" indent="-228600">
              <a:buFont typeface="Calibri"/>
              <a:spcAft>
                <a:spcPts val="1000"/>
              </a:spcAft>
              <a:buSzPct val="100000"/>
              <a:buChar char="•"/>
              <a:lnSpc>
                <a:spcPts val="2200"/>
              </a:lnSpc>
            </a:pPr>
            <a:r>
              <a:rPr sz="2000" b="0">
                <a:solidFill>
                  <a:srgbClr val="333333"/>
                </a:solidFill>
                <a:latin typeface="Calibri"/>
              </a:rPr>
              <a:t>Missing Verilator on PATH fails at compile</a:t>
            </a:r>
          </a:p>
          <a:p>
            <a:pPr lvl="0" marL="457200" indent="-228600">
              <a:buFont typeface="Calibri"/>
              <a:spcAft>
                <a:spcPts val="1000"/>
              </a:spcAft>
              <a:buSzPct val="100000"/>
              <a:buChar char="•"/>
              <a:lnSpc>
                <a:spcPts val="2200"/>
              </a:lnSpc>
            </a:pPr>
            <a:r>
              <a:rPr sz="2000" b="0">
                <a:solidFill>
                  <a:srgbClr val="333333"/>
                </a:solidFill>
                <a:latin typeface="Calibri"/>
              </a:rPr>
              <a:t>Mismatch between top module and plus UVM test name yields no tests executed</a:t>
            </a:r>
          </a:p>
          <a:p>
            <a:pPr lvl="0" marL="457200" indent="-228600">
              <a:buFont typeface="Calibri"/>
              <a:spcAft>
                <a:spcPts val="1000"/>
              </a:spcAft>
              <a:buSzPct val="100000"/>
              <a:buChar char="•"/>
              <a:lnSpc>
                <a:spcPts val="2200"/>
              </a:lnSpc>
            </a:pPr>
            <a:r>
              <a:rPr sz="2000" b="0">
                <a:solidFill>
                  <a:srgbClr val="333333"/>
                </a:solidFill>
                <a:latin typeface="Calibri"/>
              </a:rPr>
              <a:t>First cold compiles take minutes, that is normal</a:t>
            </a:r>
          </a:p>
          <a:p>
            <a:pPr lvl="0" marL="457200" indent="-228600">
              <a:buFont typeface="Calibri"/>
              <a:spcAft>
                <a:spcPts val="1000"/>
              </a:spcAft>
              <a:buSzPct val="100000"/>
              <a:buChar char="•"/>
              <a:lnSpc>
                <a:spcPts val="2200"/>
              </a:lnSpc>
            </a:pPr>
            <a:r>
              <a:rPr sz="2000" b="0">
                <a:solidFill>
                  <a:srgbClr val="333333"/>
                </a:solidFill>
                <a:latin typeface="Calibri"/>
              </a:rPr>
              <a:t>Browser sketch success never substitutes for reading these Makefile errors offline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makefile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