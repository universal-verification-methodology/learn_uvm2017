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Modules twenty-two and twenty-three moved you from host literacy to Makefile knobs. Module twenty-four is the fidelity step: compile Accellera UVM twenty seventeen with Verilator using the **in-course** and-gate hello. You leave with a command line you can repeat—UVM home, make run, read pass or fail. No dependency on ignored legacy trees for the primary path.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Browser sketches taught factory, agents, and sequences—they do not compile uvm_pkg. Offline you use the in-course Makefile: export UVM home, make run with Verilator. The flow compiles uvm_pkg plus DUT plus test into a C++ executable, then runs with plus UVM test name AndGateTest. First cold compile can take many minutes; later rebuilds reuse objects.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examples verilator-uvm-hello beside this curriculum. Export UVM home to Accellera src. Run make dry-run if you skipped module twenty-three. Then make run. Watch Verilator compile stages finish, then the binary print UVM info and a report summary. Capture the exact command and the pass or fail line. If it fails, record the stage—UVM home, compile, link, or run—and the first error 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UVM track, enter the in-course hello, export UVM home, then compile and run.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Unset UVM home fails before useful compile output. A browser UVM sketch pass is not a Verilator UVM pass. Patience on first compile—UVM templates are heavy. If Verilator is too old for UVM twenty seventeen, upgrade or note the version blocker. Keep the ignored legacy archive out of your default path; the in-course hello is the contract for this module.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dry-run green, make run finished, pass or fail recorded. Prefer the in-course and-gate hello unless your site policy points elsewhere. When you are ready, take the short quiz, then continue to the wrap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Run UVM on Verilator</a:t>
            </a:r>
          </a:p>
          <a:p>
            <a:pPr algn="ctr">
              <a:lnSpc>
                <a:spcPts val="2200"/>
              </a:lnSpc>
              <a:spcBef>
                <a:spcPts val="1400"/>
              </a:spcBef>
            </a:pPr>
            <a:r>
              <a:rPr sz="2600" b="0">
                <a:solidFill>
                  <a:srgbClr val="333333"/>
                </a:solidFill>
                <a:latin typeface="Calibri"/>
              </a:rPr>
              <a:t>Modules twenty-two and twenty-three moved you from host literacy to Makefile knobs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offline uvm verilator run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Verilator-first offline run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Browser sketches taught factory, agents, and sequences, they do not compile uvm_pkg</a:t>
            </a:r>
          </a:p>
          <a:p>
            <a:pPr lvl="0" marL="457200" indent="-228600">
              <a:buFont typeface="Calibri"/>
              <a:spcAft>
                <a:spcPts val="1000"/>
              </a:spcAft>
              <a:buSzPct val="100000"/>
              <a:buChar char="•"/>
              <a:lnSpc>
                <a:spcPts val="2200"/>
              </a:lnSpc>
            </a:pPr>
            <a:r>
              <a:rPr sz="2000" b="0">
                <a:solidFill>
                  <a:srgbClr val="333333"/>
                </a:solidFill>
                <a:latin typeface="Calibri"/>
              </a:rPr>
              <a:t>Offline you use the in-course Makefile: export UVM home, make run with Verilator</a:t>
            </a:r>
          </a:p>
          <a:p>
            <a:pPr lvl="0" marL="457200" indent="-228600">
              <a:buFont typeface="Calibri"/>
              <a:spcAft>
                <a:spcPts val="1000"/>
              </a:spcAft>
              <a:buSzPct val="100000"/>
              <a:buChar char="•"/>
              <a:lnSpc>
                <a:spcPts val="2200"/>
              </a:lnSpc>
            </a:pPr>
            <a:r>
              <a:rPr sz="2000" b="0">
                <a:solidFill>
                  <a:srgbClr val="333333"/>
                </a:solidFill>
                <a:latin typeface="Calibri"/>
              </a:rPr>
              <a:t>The flow compiles uvm_pkg plus DUT plus test into a C++ executable</a:t>
            </a:r>
          </a:p>
          <a:p>
            <a:pPr lvl="0" marL="457200" indent="-228600">
              <a:buFont typeface="Calibri"/>
              <a:spcAft>
                <a:spcPts val="1000"/>
              </a:spcAft>
              <a:buSzPct val="100000"/>
              <a:buChar char="•"/>
              <a:lnSpc>
                <a:spcPts val="2200"/>
              </a:lnSpc>
            </a:pPr>
            <a:r>
              <a:rPr sz="2000" b="0">
                <a:solidFill>
                  <a:srgbClr val="333333"/>
                </a:solidFill>
                <a:latin typeface="Calibri"/>
              </a:rPr>
              <a:t>First cold compile can take many minutes; later rebuilds reuse objects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offline uvm verilator run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Offline workflow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Open examples verilator-uvm-hello beside this curriculum</a:t>
            </a:r>
          </a:p>
          <a:p>
            <a:pPr lvl="0" marL="457200" indent="-228600">
              <a:buFont typeface="Calibri"/>
              <a:spcAft>
                <a:spcPts val="1000"/>
              </a:spcAft>
              <a:buSzPct val="100000"/>
              <a:buChar char="•"/>
              <a:lnSpc>
                <a:spcPts val="2200"/>
              </a:lnSpc>
            </a:pPr>
            <a:r>
              <a:rPr sz="2000" b="0">
                <a:solidFill>
                  <a:srgbClr val="333333"/>
                </a:solidFill>
                <a:latin typeface="Calibri"/>
              </a:rPr>
              <a:t>Export UVM home to Accellera src</a:t>
            </a:r>
          </a:p>
          <a:p>
            <a:pPr lvl="0" marL="457200" indent="-228600">
              <a:buFont typeface="Calibri"/>
              <a:spcAft>
                <a:spcPts val="1000"/>
              </a:spcAft>
              <a:buSzPct val="100000"/>
              <a:buChar char="•"/>
              <a:lnSpc>
                <a:spcPts val="2200"/>
              </a:lnSpc>
            </a:pPr>
            <a:r>
              <a:rPr sz="2000" b="0">
                <a:solidFill>
                  <a:srgbClr val="333333"/>
                </a:solidFill>
                <a:latin typeface="Calibri"/>
              </a:rPr>
              <a:t>Run make dry-run if you skipped module twenty-three</a:t>
            </a:r>
          </a:p>
          <a:p>
            <a:pPr lvl="0" marL="457200" indent="-228600">
              <a:buFont typeface="Calibri"/>
              <a:spcAft>
                <a:spcPts val="1000"/>
              </a:spcAft>
              <a:buSzPct val="100000"/>
              <a:buChar char="•"/>
              <a:lnSpc>
                <a:spcPts val="2200"/>
              </a:lnSpc>
            </a:pPr>
            <a:r>
              <a:rPr sz="2000" b="0">
                <a:solidFill>
                  <a:srgbClr val="333333"/>
                </a:solidFill>
                <a:latin typeface="Calibri"/>
              </a:rPr>
              <a:t>Then make run</a:t>
            </a:r>
          </a:p>
          <a:p>
            <a:pPr lvl="0" marL="457200" indent="-228600">
              <a:buFont typeface="Calibri"/>
              <a:spcAft>
                <a:spcPts val="1000"/>
              </a:spcAft>
              <a:buSzPct val="100000"/>
              <a:buChar char="•"/>
              <a:lnSpc>
                <a:spcPts val="2200"/>
              </a:lnSpc>
            </a:pPr>
            <a:r>
              <a:rPr sz="2000" b="0">
                <a:solidFill>
                  <a:srgbClr val="333333"/>
                </a:solidFill>
                <a:latin typeface="Calibri"/>
              </a:rPr>
              <a:t>Watch Verilator compile stages finish, then the binary print UVM info and a report summary</a:t>
            </a:r>
          </a:p>
          <a:p>
            <a:pPr lvl="0" marL="457200" indent="-228600">
              <a:buFont typeface="Calibri"/>
              <a:spcAft>
                <a:spcPts val="1000"/>
              </a:spcAft>
              <a:buSzPct val="100000"/>
              <a:buChar char="•"/>
              <a:lnSpc>
                <a:spcPts val="2200"/>
              </a:lnSpc>
            </a:pPr>
            <a:r>
              <a:rPr sz="2000" b="0">
                <a:solidFill>
                  <a:srgbClr val="333333"/>
                </a:solidFill>
                <a:latin typeface="Calibri"/>
              </a:rPr>
              <a:t>Capture the exact command and the pass or fail line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offline uvm verilator run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Verilator UVM run</a:t>
            </a:r>
          </a:p>
        </p:txBody>
      </p:sp>
      <p:pic>
        <p:nvPicPr>
          <p:cNvPr id="3" name="Picture 2" descr="real-shell.png"/>
          <p:cNvPicPr>
            <a:picLocks noChangeAspect="1"/>
          </p:cNvPicPr>
          <p:nvPr/>
        </p:nvPicPr>
        <p:blipFill>
          <a:blip r:embed="rId2"/>
          <a:stretch>
            <a:fillRect/>
          </a:stretch>
        </p:blipFill>
        <p:spPr>
          <a:xfrm>
            <a:off x="548640" y="1143000"/>
            <a:ext cx="365892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Verilator UVM make run</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offline uvm verilator run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Verilator UVM run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cd in-course Verilator + UVM hello</a:t>
            </a:r>
          </a:p>
          <a:p>
            <a:pPr>
              <a:lnSpc>
                <a:spcPts val="2200"/>
              </a:lnSpc>
              <a:spcAft>
                <a:spcPts val="600"/>
              </a:spcAft>
            </a:pPr>
            <a:r>
              <a:rPr sz="2000" b="0">
                <a:solidFill>
                  <a:srgbClr val="333333"/>
                </a:solidFill>
                <a:latin typeface="Consolas"/>
              </a:rPr>
              <a:t>cd courses/learn_uvm2017/examples/verilator-uvm-hello</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export UVM_HOME — Accellera UVM 2017 src/</a:t>
            </a:r>
          </a:p>
          <a:p>
            <a:pPr>
              <a:lnSpc>
                <a:spcPts val="2200"/>
              </a:lnSpc>
              <a:spcAft>
                <a:spcPts val="600"/>
              </a:spcAft>
            </a:pPr>
            <a:r>
              <a:rPr sz="2000" b="0">
                <a:solidFill>
                  <a:srgbClr val="333333"/>
                </a:solidFill>
                <a:latin typeface="Consolas"/>
              </a:rPr>
              <a:t>export UVM_HOME=/path/to/1800.2-2017-1.0/src</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make run — Verilator compile + execute +UVM_TESTNAME=AndGateTest</a:t>
            </a:r>
          </a:p>
          <a:p>
            <a:pPr>
              <a:lnSpc>
                <a:spcPts val="2200"/>
              </a:lnSpc>
              <a:spcAft>
                <a:spcPts val="600"/>
              </a:spcAft>
            </a:pPr>
            <a:r>
              <a:rPr sz="2000" b="0">
                <a:solidFill>
                  <a:srgbClr val="333333"/>
                </a:solidFill>
                <a:latin typeface="Consolas"/>
              </a:rPr>
              <a:t>make run SIM=verilator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offline uvm verilator run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Unset UVM home fails before useful compile output</a:t>
            </a:r>
          </a:p>
          <a:p>
            <a:pPr lvl="0" marL="457200" indent="-228600">
              <a:buFont typeface="Calibri"/>
              <a:spcAft>
                <a:spcPts val="1000"/>
              </a:spcAft>
              <a:buSzPct val="100000"/>
              <a:buChar char="•"/>
              <a:lnSpc>
                <a:spcPts val="2200"/>
              </a:lnSpc>
            </a:pPr>
            <a:r>
              <a:rPr sz="2000" b="0">
                <a:solidFill>
                  <a:srgbClr val="333333"/>
                </a:solidFill>
                <a:latin typeface="Calibri"/>
              </a:rPr>
              <a:t>A browser UVM sketch pass is not a Verilator UVM pass</a:t>
            </a:r>
          </a:p>
          <a:p>
            <a:pPr lvl="0" marL="457200" indent="-228600">
              <a:buFont typeface="Calibri"/>
              <a:spcAft>
                <a:spcPts val="1000"/>
              </a:spcAft>
              <a:buSzPct val="100000"/>
              <a:buChar char="•"/>
              <a:lnSpc>
                <a:spcPts val="2200"/>
              </a:lnSpc>
            </a:pPr>
            <a:r>
              <a:rPr sz="2000" b="0">
                <a:solidFill>
                  <a:srgbClr val="333333"/>
                </a:solidFill>
                <a:latin typeface="Calibri"/>
              </a:rPr>
              <a:t>Patience on first compile, UVM templates are heavy</a:t>
            </a:r>
          </a:p>
          <a:p>
            <a:pPr lvl="0" marL="457200" indent="-228600">
              <a:buFont typeface="Calibri"/>
              <a:spcAft>
                <a:spcPts val="1000"/>
              </a:spcAft>
              <a:buSzPct val="100000"/>
              <a:buChar char="•"/>
              <a:lnSpc>
                <a:spcPts val="2200"/>
              </a:lnSpc>
            </a:pPr>
            <a:r>
              <a:rPr sz="2000" b="0">
                <a:solidFill>
                  <a:srgbClr val="333333"/>
                </a:solidFill>
                <a:latin typeface="Calibri"/>
              </a:rPr>
              <a:t>If Verilator is too old for UVM twenty seventeen, upgrade or note the version blocker</a:t>
            </a:r>
          </a:p>
          <a:p>
            <a:pPr lvl="0" marL="457200" indent="-228600">
              <a:buFont typeface="Calibri"/>
              <a:spcAft>
                <a:spcPts val="1000"/>
              </a:spcAft>
              <a:buSzPct val="100000"/>
              <a:buChar char="•"/>
              <a:lnSpc>
                <a:spcPts val="2200"/>
              </a:lnSpc>
            </a:pPr>
            <a:r>
              <a:rPr sz="2000" b="0">
                <a:solidFill>
                  <a:srgbClr val="333333"/>
                </a:solidFill>
                <a:latin typeface="Calibri"/>
              </a:rPr>
              <a:t>Keep the ignored legacy archive out of your default path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offline uvm verilator run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dry-run green, make run finished, pass or fail recorded</a:t>
            </a:r>
          </a:p>
          <a:p>
            <a:pPr lvl="0" marL="457200" indent="-228600">
              <a:buFont typeface="Calibri"/>
              <a:spcAft>
                <a:spcPts val="1000"/>
              </a:spcAft>
              <a:buSzPct val="100000"/>
              <a:buChar char="•"/>
              <a:lnSpc>
                <a:spcPts val="2200"/>
              </a:lnSpc>
            </a:pPr>
            <a:r>
              <a:rPr sz="2000" b="0">
                <a:solidFill>
                  <a:srgbClr val="333333"/>
                </a:solidFill>
                <a:latin typeface="Calibri"/>
              </a:rPr>
              <a:t>Prefer the in-course and-gate hello unless your site policy points elsewhere</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the wrap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offline uvm verilator run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