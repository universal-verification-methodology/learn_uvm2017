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agent drives and observes one interface—but a reusable verification IP is more than an agent. A VIP package is a handoff unit: agent for the bus, protocol checker for legality, coverage for scenario measurement, and docs with a self-test so another team can integrate it. Ship only the agent and you have a scaffold, not a complete VIP. This module sketches a UART VIP with all four pieces, then removes one at a time so you see what incomplete looks like. We will assemble the package in the browser lab, then read the same checklist in offline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is the protocol unit—sequencer, driver, monitor, and interface around one bus. The checker is passive protocol rules—handshake and legality, orthogonal to scoreboard payload checks. Coverage is covergroups and bins that measure which scenarios the VIP exercised. Docs are the handoff—API notes, README, examples, and a self-test consumers can run. Scoreboards often live in the env; VIPs commonly ship checker plus coverage with the agent. A package is complete only when all four deliverables are present and consumers can integrate without reverse-engineering your source.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VIP anatomy lab. The starter loads a complete UART VIP—agent, checker, coverage, and docs all present. Click Assemble and confirm the package reads COMPLETE. Try missing checker, missing coverage, or missing docs and see INCOMPLETE. Load agent only—useful scaffold, not a VIP package yet. Toggle pieces from empty and rebuild the handoff one deliverable at a time. Work a few challenges, then Check. The lab is literacy—you still package real SystemVerilog and docs for production VIPs.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UVM track, open this module’s VIP sketch—it lists agent, checker, coverage, and docs as a reuse checklist in plain language. Trace how an agent alone is not enough for handoff, and how checker and coverage sit beside the agent. If the legacy offline course is checked out, grep for VipAgent or VIP in module seven vip—you will see a skeleton with transaction, sequence, driver, and agent. That example is the agent scaffold; real VIP packages add checker, coverage, and docs on top. Protocol checkers from the last module are one of those four pieces.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call an agent-only tree a VIP—consumers need checker, coverage, and docs too. Do not put the project scoreboard inside the VIP by default—env owns functional expect versus actual; VIP ships protocol legality and coverage. Do not skip the self-test in docs—integration without a smoke run fails at the consumer. Do not forget that incomplete packages still compile—missing pieces are a process failure, not a syntax error. And remember: factory, ConfigDB, and sequences make the agent reusable; packaging makes the VIP shippable.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assemble the complete starter, then remove docs and explain why handoff fails. On real UVM, sketch a UART VIP tree with all four deliverables labeled. When you are ready, take the short quiz, then continue to running a course UVM example offline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VIP anatomy</a:t>
            </a:r>
          </a:p>
          <a:p>
            <a:pPr algn="ctr">
              <a:lnSpc>
                <a:spcPts val="2200"/>
              </a:lnSpc>
              <a:spcBef>
                <a:spcPts val="1400"/>
              </a:spcBef>
            </a:pPr>
            <a:r>
              <a:rPr sz="2600" b="0">
                <a:solidFill>
                  <a:srgbClr val="333333"/>
                </a:solidFill>
                <a:latin typeface="Calibri"/>
              </a:rPr>
              <a:t>An agent drives and observes one interface, but a reusable verification IP is more than an agent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vip anatomy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Four deliverables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agent is the protocol unit, sequencer, driver, monitor, and interface around one bus</a:t>
            </a:r>
          </a:p>
          <a:p>
            <a:pPr lvl="0" marL="457200" indent="-228600">
              <a:buFont typeface="Calibri"/>
              <a:spcAft>
                <a:spcPts val="1000"/>
              </a:spcAft>
              <a:buSzPct val="100000"/>
              <a:buChar char="•"/>
              <a:lnSpc>
                <a:spcPts val="2200"/>
              </a:lnSpc>
            </a:pPr>
            <a:r>
              <a:rPr sz="2000" b="0">
                <a:solidFill>
                  <a:srgbClr val="333333"/>
                </a:solidFill>
                <a:latin typeface="Calibri"/>
              </a:rPr>
              <a:t>The checker is passive protocol rules</a:t>
            </a:r>
          </a:p>
          <a:p>
            <a:pPr lvl="0" marL="457200" indent="-228600">
              <a:buFont typeface="Calibri"/>
              <a:spcAft>
                <a:spcPts val="1000"/>
              </a:spcAft>
              <a:buSzPct val="100000"/>
              <a:buChar char="•"/>
              <a:lnSpc>
                <a:spcPts val="2200"/>
              </a:lnSpc>
            </a:pPr>
            <a:r>
              <a:rPr sz="2000" b="0">
                <a:solidFill>
                  <a:srgbClr val="333333"/>
                </a:solidFill>
                <a:latin typeface="Calibri"/>
              </a:rPr>
              <a:t>Coverage is covergroups and bins that measure which scenarios the VIP exercised</a:t>
            </a:r>
          </a:p>
          <a:p>
            <a:pPr lvl="0" marL="457200" indent="-228600">
              <a:buFont typeface="Calibri"/>
              <a:spcAft>
                <a:spcPts val="1000"/>
              </a:spcAft>
              <a:buSzPct val="100000"/>
              <a:buChar char="•"/>
              <a:lnSpc>
                <a:spcPts val="2200"/>
              </a:lnSpc>
            </a:pPr>
            <a:r>
              <a:rPr sz="2000" b="0">
                <a:solidFill>
                  <a:srgbClr val="333333"/>
                </a:solidFill>
                <a:latin typeface="Calibri"/>
              </a:rPr>
              <a:t>Docs are the handoff, API notes, README, examples, and a self-test consumers can run</a:t>
            </a:r>
          </a:p>
          <a:p>
            <a:pPr lvl="0" marL="457200" indent="-228600">
              <a:buFont typeface="Calibri"/>
              <a:spcAft>
                <a:spcPts val="1000"/>
              </a:spcAft>
              <a:buSzPct val="100000"/>
              <a:buChar char="•"/>
              <a:lnSpc>
                <a:spcPts val="2200"/>
              </a:lnSpc>
            </a:pPr>
            <a:r>
              <a:rPr sz="2000" b="0">
                <a:solidFill>
                  <a:srgbClr val="333333"/>
                </a:solidFill>
                <a:latin typeface="Calibri"/>
              </a:rPr>
              <a:t>Scoreboards often live in the env; VIPs commonly ship checker plus coverage with the agent</a:t>
            </a:r>
          </a:p>
          <a:p>
            <a:pPr lvl="0" marL="457200" indent="-228600">
              <a:buFont typeface="Calibri"/>
              <a:spcAft>
                <a:spcPts val="1000"/>
              </a:spcAft>
              <a:buSzPct val="100000"/>
              <a:buChar char="•"/>
              <a:lnSpc>
                <a:spcPts val="2200"/>
              </a:lnSpc>
            </a:pPr>
            <a:r>
              <a:rPr sz="2000" b="0">
                <a:solidFill>
                  <a:srgbClr val="333333"/>
                </a:solidFill>
                <a:latin typeface="Calibri"/>
              </a:rPr>
              <a:t>A package is complete only when all four deliverables are present and consumers can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vip anatomy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VIP anatomy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vip anatomy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UVM literacy</a:t>
            </a:r>
          </a:p>
        </p:txBody>
      </p:sp>
      <p:pic>
        <p:nvPicPr>
          <p:cNvPr id="3" name="Picture 2" descr="real-shell.png"/>
          <p:cNvPicPr>
            <a:picLocks noChangeAspect="1"/>
          </p:cNvPicPr>
          <p:nvPr/>
        </p:nvPicPr>
        <p:blipFill>
          <a:blip r:embed="rId2"/>
          <a:stretch>
            <a:fillRect/>
          </a:stretch>
        </p:blipFill>
        <p:spPr>
          <a:xfrm>
            <a:off x="548640" y="1143000"/>
            <a:ext cx="3248448"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VIP anatomy sketch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vip anatomy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call an agent-only tree a VIP, consumers need checker, coverage, and docs too</a:t>
            </a:r>
          </a:p>
          <a:p>
            <a:pPr lvl="0" marL="457200" indent="-228600">
              <a:buFont typeface="Calibri"/>
              <a:spcAft>
                <a:spcPts val="1000"/>
              </a:spcAft>
              <a:buSzPct val="100000"/>
              <a:buChar char="•"/>
              <a:lnSpc>
                <a:spcPts val="2200"/>
              </a:lnSpc>
            </a:pPr>
            <a:r>
              <a:rPr sz="2000" b="0">
                <a:solidFill>
                  <a:srgbClr val="333333"/>
                </a:solidFill>
                <a:latin typeface="Calibri"/>
              </a:rPr>
              <a:t>VIP ships protocol legality and coverage</a:t>
            </a:r>
          </a:p>
          <a:p>
            <a:pPr lvl="0" marL="457200" indent="-228600">
              <a:buFont typeface="Calibri"/>
              <a:spcAft>
                <a:spcPts val="1000"/>
              </a:spcAft>
              <a:buSzPct val="100000"/>
              <a:buChar char="•"/>
              <a:lnSpc>
                <a:spcPts val="2200"/>
              </a:lnSpc>
            </a:pPr>
            <a:r>
              <a:rPr sz="2000" b="0">
                <a:solidFill>
                  <a:srgbClr val="333333"/>
                </a:solidFill>
                <a:latin typeface="Calibri"/>
              </a:rPr>
              <a:t>Do not skip the self-test in docs, integration without a smoke run fails at the consumer</a:t>
            </a:r>
          </a:p>
          <a:p>
            <a:pPr lvl="0" marL="457200" indent="-228600">
              <a:buFont typeface="Calibri"/>
              <a:spcAft>
                <a:spcPts val="1000"/>
              </a:spcAft>
              <a:buSzPct val="100000"/>
              <a:buChar char="•"/>
              <a:lnSpc>
                <a:spcPts val="2200"/>
              </a:lnSpc>
            </a:pPr>
            <a:r>
              <a:rPr sz="2000" b="0">
                <a:solidFill>
                  <a:srgbClr val="333333"/>
                </a:solidFill>
                <a:latin typeface="Calibri"/>
              </a:rPr>
              <a:t>Do not forget that incomplete packages still compile</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vip anatomy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a:t>
            </a:r>
          </a:p>
          <a:p>
            <a:pPr lvl="0" marL="457200" indent="-228600">
              <a:buFont typeface="Calibri"/>
              <a:spcAft>
                <a:spcPts val="1000"/>
              </a:spcAft>
              <a:buSzPct val="100000"/>
              <a:buChar char="•"/>
              <a:lnSpc>
                <a:spcPts val="2200"/>
              </a:lnSpc>
            </a:pPr>
            <a:r>
              <a:rPr sz="2000" b="0">
                <a:solidFill>
                  <a:srgbClr val="333333"/>
                </a:solidFill>
                <a:latin typeface="Calibri"/>
              </a:rPr>
              <a:t>On real UVM, sketch a UART VIP tree with all four deliverables labeled</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vip anatomy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