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UVM classes and phases, every verification engineer meets the same classic picture: a testbench module wraps a DUT, drives inputs, watches outputs, and ends the run. This module refreshes that anatomy—what is design under test versus testbench, which signals are reg versus wire, and where display and finish live. We will use the browser lab for the interactive diagram, then read the same structure in a real dot-v file.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DUT is synthesizable RTL—the block you are verifying. The testbench module is simulation-only: it instantiates the DUT, holds stimulus variables, and runs checks. Stimulus inputs are typically reg because the testbench assigns them in an initial or always block. Outputs you observe are wire or logic nets driven by the DUT—do not drive those from the testbench. An initial block advances time with delays, prints with display, and stops with finish. That five-part split—tb shell, stimulus, observe net, DUT instance, procedural block—is the foundation UVM later replaces with agents and interfaces, but the jobs stay the same.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testbench anatomy lab. You will see clickable regions for the testbench module, stimulus registers, the observe wire, the DUT instance, and the procedural initial block. Load the classic AND-two starter and step through the timeline—watch how register a and b change while wire y follows the DUT output. Click each part to read its role; use the signal list to see reg versus wire. Work a few challenges, then Check. This lab refreshes classic SystemVerilog testbench shape before UVM classes enter the picture.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track, open this module’s examples folder and read the tiny AND-two testbench. Find the DUT module, the testbench module, reg a and b, wire y, the instance connection, and the initial block with display and finish. If Icarus is on your path, run a syntax-only compile to confirm the file parses; if not, tracing the regions by eye is still valid practice. This is the same anatomy the browser lab labels—now in code you can keep.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drive a wire the DUT also drives—that creates a contention error. Do not put synthesizable checks only in the testbench and forget what the RTL actually does. Do not skip finish in long runs unless you know the simulator will stop another way—the lab’s no-finish preset shows why. And remember: mastering classic tb anatomy makes UVM’s driver, monitor, and virtual interface mapping much easier—you are not learning two unrelated worlds.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step the timeline and finish a few challenges. On real SystemVerilog, read or edit the AND-two example and name each anatomical part aloud. When you are ready, take the short quiz, then continue to UVM phases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TB anatomy refresh</a:t>
            </a:r>
          </a:p>
          <a:p>
            <a:pPr algn="ctr">
              <a:lnSpc>
                <a:spcPts val="2200"/>
              </a:lnSpc>
              <a:spcBef>
                <a:spcPts val="1400"/>
              </a:spcBef>
            </a:pPr>
            <a:r>
              <a:rPr sz="2600" b="0">
                <a:solidFill>
                  <a:srgbClr val="333333"/>
                </a:solidFill>
                <a:latin typeface="Calibri"/>
              </a:rPr>
              <a:t>Before UVM classes and phases, every verification engineer meets the same classic picture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tb anatomy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DUT, tb, reg, wire, initial</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DUT is synthesizable RTL, the block you are verifying</a:t>
            </a:r>
          </a:p>
          <a:p>
            <a:pPr lvl="0" marL="457200" indent="-228600">
              <a:buFont typeface="Calibri"/>
              <a:spcAft>
                <a:spcPts val="1000"/>
              </a:spcAft>
              <a:buSzPct val="100000"/>
              <a:buChar char="•"/>
              <a:lnSpc>
                <a:spcPts val="2200"/>
              </a:lnSpc>
            </a:pPr>
            <a:r>
              <a:rPr sz="2000" b="0">
                <a:solidFill>
                  <a:srgbClr val="333333"/>
                </a:solidFill>
                <a:latin typeface="Calibri"/>
              </a:rPr>
              <a:t>The testbench module is simulation-only</a:t>
            </a:r>
          </a:p>
          <a:p>
            <a:pPr lvl="0" marL="457200" indent="-228600">
              <a:buFont typeface="Calibri"/>
              <a:spcAft>
                <a:spcPts val="1000"/>
              </a:spcAft>
              <a:buSzPct val="100000"/>
              <a:buChar char="•"/>
              <a:lnSpc>
                <a:spcPts val="2200"/>
              </a:lnSpc>
            </a:pPr>
            <a:r>
              <a:rPr sz="2000" b="0">
                <a:solidFill>
                  <a:srgbClr val="333333"/>
                </a:solidFill>
                <a:latin typeface="Calibri"/>
              </a:rPr>
              <a:t>Stimulus inputs are typically reg because the testbench assigns them in an initial or</a:t>
            </a:r>
          </a:p>
          <a:p>
            <a:pPr lvl="0" marL="457200" indent="-228600">
              <a:buFont typeface="Calibri"/>
              <a:spcAft>
                <a:spcPts val="1000"/>
              </a:spcAft>
              <a:buSzPct val="100000"/>
              <a:buChar char="•"/>
              <a:lnSpc>
                <a:spcPts val="2200"/>
              </a:lnSpc>
            </a:pPr>
            <a:r>
              <a:rPr sz="2000" b="0">
                <a:solidFill>
                  <a:srgbClr val="333333"/>
                </a:solidFill>
                <a:latin typeface="Calibri"/>
              </a:rPr>
              <a:t>Outputs you observe are wire or logic nets driven by the DUT</a:t>
            </a:r>
          </a:p>
          <a:p>
            <a:pPr lvl="0" marL="457200" indent="-228600">
              <a:buFont typeface="Calibri"/>
              <a:spcAft>
                <a:spcPts val="1000"/>
              </a:spcAft>
              <a:buSzPct val="100000"/>
              <a:buChar char="•"/>
              <a:lnSpc>
                <a:spcPts val="2200"/>
              </a:lnSpc>
            </a:pPr>
            <a:r>
              <a:rPr sz="2000" b="0">
                <a:solidFill>
                  <a:srgbClr val="333333"/>
                </a:solidFill>
                <a:latin typeface="Calibri"/>
              </a:rPr>
              <a:t>An initial block advances time with delays, prints with display, and stops with finish</a:t>
            </a:r>
          </a:p>
          <a:p>
            <a:pPr lvl="0" marL="457200" indent="-228600">
              <a:buFont typeface="Calibri"/>
              <a:spcAft>
                <a:spcPts val="1000"/>
              </a:spcAft>
              <a:buSzPct val="100000"/>
              <a:buChar char="•"/>
              <a:lnSpc>
                <a:spcPts val="2200"/>
              </a:lnSpc>
            </a:pPr>
            <a:r>
              <a:rPr sz="2000" b="0">
                <a:solidFill>
                  <a:srgbClr val="333333"/>
                </a:solidFill>
                <a:latin typeface="Calibri"/>
              </a:rPr>
              <a:t>That five-part split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tb anatomy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TB anatomy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tb anatomy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testbench file</a:t>
            </a:r>
          </a:p>
        </p:txBody>
      </p:sp>
      <p:pic>
        <p:nvPicPr>
          <p:cNvPr id="3" name="Picture 2" descr="real-shell.png"/>
          <p:cNvPicPr>
            <a:picLocks noChangeAspect="1"/>
          </p:cNvPicPr>
          <p:nvPr/>
        </p:nvPicPr>
        <p:blipFill>
          <a:blip r:embed="rId2"/>
          <a:stretch>
            <a:fillRect/>
          </a:stretch>
        </p:blipFill>
        <p:spPr>
          <a:xfrm>
            <a:off x="548640" y="1143000"/>
            <a:ext cx="6385733"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and2 testbench</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tb anatomy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drive a wire the DUT also drives, that creates a contention error</a:t>
            </a:r>
          </a:p>
          <a:p>
            <a:pPr lvl="0" marL="457200" indent="-228600">
              <a:buFont typeface="Calibri"/>
              <a:spcAft>
                <a:spcPts val="1000"/>
              </a:spcAft>
              <a:buSzPct val="100000"/>
              <a:buChar char="•"/>
              <a:lnSpc>
                <a:spcPts val="2200"/>
              </a:lnSpc>
            </a:pPr>
            <a:r>
              <a:rPr sz="2000" b="0">
                <a:solidFill>
                  <a:srgbClr val="333333"/>
                </a:solidFill>
                <a:latin typeface="Calibri"/>
              </a:rPr>
              <a:t>Do not put synthesizable checks only in the testbench and forget what the RTL actually</a:t>
            </a:r>
          </a:p>
          <a:p>
            <a:pPr lvl="0" marL="457200" indent="-228600">
              <a:buFont typeface="Calibri"/>
              <a:spcAft>
                <a:spcPts val="1000"/>
              </a:spcAft>
              <a:buSzPct val="100000"/>
              <a:buChar char="•"/>
              <a:lnSpc>
                <a:spcPts val="2200"/>
              </a:lnSpc>
            </a:pPr>
            <a:r>
              <a:rPr sz="2000" b="0">
                <a:solidFill>
                  <a:srgbClr val="333333"/>
                </a:solidFill>
                <a:latin typeface="Calibri"/>
              </a:rPr>
              <a:t>Do not skip finish in long runs unless you know the simulator will stop another way</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tb anatomy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step the timeline and finish a few challenges</a:t>
            </a:r>
          </a:p>
          <a:p>
            <a:pPr lvl="0" marL="457200" indent="-228600">
              <a:buFont typeface="Calibri"/>
              <a:spcAft>
                <a:spcPts val="1000"/>
              </a:spcAft>
              <a:buSzPct val="100000"/>
              <a:buChar char="•"/>
              <a:lnSpc>
                <a:spcPts val="2200"/>
              </a:lnSpc>
            </a:pPr>
            <a:r>
              <a:rPr sz="2000" b="0">
                <a:solidFill>
                  <a:srgbClr val="333333"/>
                </a:solidFill>
                <a:latin typeface="Calibri"/>
              </a:rPr>
              <a:t>On real SystemVerilog</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UVM phases in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tb anatomy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